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1ec458ff64c29" /><Relationship Type="http://schemas.openxmlformats.org/officeDocument/2006/relationships/extended-properties" Target="/docProps/app.xml" Id="R95ad134184de459e" /><Relationship Type="http://schemas.openxmlformats.org/officeDocument/2006/relationships/officeDocument" Target="/ppt/presentation.xml" Id="R23fbe29d5314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7cb68b19e4d8f"/>
  </p:sldMasterIdLst>
  <p:notesMasterIdLst>
    <p:notesMasterId xmlns:r="http://schemas.openxmlformats.org/officeDocument/2006/relationships" r:id="R28e42ace0d6d4a3e"/>
  </p:notesMasterIdLst>
  <p:sldIdLst>
    <p:sldId xmlns:r="http://schemas.openxmlformats.org/officeDocument/2006/relationships" id="256" r:id="R0e3bfa486f484c8b"/>
    <p:sldId xmlns:r="http://schemas.openxmlformats.org/officeDocument/2006/relationships" id="257" r:id="Rc43d2c21e89a47a2"/>
    <p:sldId xmlns:r="http://schemas.openxmlformats.org/officeDocument/2006/relationships" id="258" r:id="R83c1c4bb0cce4c56"/>
    <p:sldId xmlns:r="http://schemas.openxmlformats.org/officeDocument/2006/relationships" id="259" r:id="R02422ffa0abd4f72"/>
    <p:sldId xmlns:r="http://schemas.openxmlformats.org/officeDocument/2006/relationships" id="260" r:id="R8c72e5f8dadf4da6"/>
    <p:sldId xmlns:r="http://schemas.openxmlformats.org/officeDocument/2006/relationships" id="261" r:id="Rccd9905375ea44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15de28d7ad4ad6" /><Relationship Type="http://schemas.openxmlformats.org/officeDocument/2006/relationships/slideMaster" Target="/ppt/slideMasters/slideMaster1.xml" Id="Rb127cb68b19e4d8f" /><Relationship Type="http://schemas.openxmlformats.org/officeDocument/2006/relationships/notesMaster" Target="/ppt/notesMasters/notesMaster1.xml" Id="R28e42ace0d6d4a3e" /><Relationship Type="http://schemas.openxmlformats.org/officeDocument/2006/relationships/presProps" Target="/ppt/presProps.xml" Id="R4bd8b53fdedb447d" /><Relationship Type="http://schemas.openxmlformats.org/officeDocument/2006/relationships/tableStyles" Target="/ppt/tableStyles.xml" Id="R646393dfbd6542e2" /><Relationship Type="http://schemas.openxmlformats.org/officeDocument/2006/relationships/slide" Target="/ppt/slides/slide1.xml" Id="R0e3bfa486f484c8b" /><Relationship Type="http://schemas.openxmlformats.org/officeDocument/2006/relationships/slide" Target="/ppt/slides/slide2.xml" Id="Rc43d2c21e89a47a2" /><Relationship Type="http://schemas.openxmlformats.org/officeDocument/2006/relationships/slide" Target="/ppt/slides/slide3.xml" Id="R83c1c4bb0cce4c56" /><Relationship Type="http://schemas.openxmlformats.org/officeDocument/2006/relationships/slide" Target="/ppt/slides/slide4.xml" Id="R02422ffa0abd4f72" /><Relationship Type="http://schemas.openxmlformats.org/officeDocument/2006/relationships/slide" Target="/ppt/slides/slide5.xml" Id="R8c72e5f8dadf4da6" /><Relationship Type="http://schemas.openxmlformats.org/officeDocument/2006/relationships/slide" Target="/ppt/slides/slide6.xml" Id="Rccd9905375ea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93ac67a7342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ab328589784bfc" /><Relationship Type="http://schemas.openxmlformats.org/officeDocument/2006/relationships/notesMaster" Target="/ppt/notesMasters/notesMaster1.xml" Id="R9574324d6087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b6021647ac48e7" /><Relationship Type="http://schemas.openxmlformats.org/officeDocument/2006/relationships/notesMaster" Target="/ppt/notesMasters/notesMaster1.xml" Id="R0acf72d521fe47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cad98520cb488b" /><Relationship Type="http://schemas.openxmlformats.org/officeDocument/2006/relationships/notesMaster" Target="/ppt/notesMasters/notesMaster1.xml" Id="R1684e2de37774e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f98e23a10d4b46" /><Relationship Type="http://schemas.openxmlformats.org/officeDocument/2006/relationships/notesMaster" Target="/ppt/notesMasters/notesMaster1.xml" Id="R5ed7c2a59f9e42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2a4dec181a4a69" /><Relationship Type="http://schemas.openxmlformats.org/officeDocument/2006/relationships/notesMaster" Target="/ppt/notesMasters/notesMaster1.xml" Id="R37b39dadc509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3a371ec19c4f68" /><Relationship Type="http://schemas.openxmlformats.org/officeDocument/2006/relationships/notesMaster" Target="/ppt/notesMasters/notesMaster1.xml" Id="R6d3a1c95733748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asdasd. Track and challenge wording supplied by the team for the Genpact qualifying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Kosovo Ministry of Education, Science, Technology and Innovation, ‘68.6% kalueshmëria e Provimit të Maturës’, 30 June 2025. https://masht.rks-gov.net/news/page/5/</a:t>
            </a:r>
          </a:p>
          <a:p xmlns:a="http://schemas.openxmlformats.org/drawingml/2006/main">
            <a:r>
              <a:t>The product-gap framing is the team's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captured from the implemented local Vue application on 25 September 2026. The demo supports Albanian and English, with History, Biology or Informatics as the elective.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Practice screenshot captured from the implemented local application. The 25% to 40% change was verified through the running API and browser flow on 25 September 2026. It follows the declared deterministic mastery formula.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repository: FastAPI, SQLAlchemy, PostgreSQL or SQLite for development, pgvector for Library RAG, and Gemma through OpenRouter. The demo bank is explicitly not an official MAShTI question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six-week pilot scope and funding model are the team's proposal for the qualifying stage.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4c39d0a3c4f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2da31fb2154ab6" /><Relationship Type="http://schemas.openxmlformats.org/officeDocument/2006/relationships/slideLayout" Target="/ppt/slideLayouts/slideLayout1.xml" Id="R2aba716e862044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a716e862044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4f2be8dd84941" /><Relationship Type="http://schemas.openxmlformats.org/officeDocument/2006/relationships/notesSlide" Target="/ppt/notesSlides/notesSlide1.xml" Id="R137058b26d59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25bd0580d4f35" /><Relationship Type="http://schemas.openxmlformats.org/officeDocument/2006/relationships/notesSlide" Target="/ppt/notesSlides/notesSlide2.xml" Id="R9003ab4dd98840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d8fb416604ed3" /><Relationship Type="http://schemas.openxmlformats.org/officeDocument/2006/relationships/image" Target="/ppt/media/image.png" Id="R7e3d741e20844f2c" /><Relationship Type="http://schemas.openxmlformats.org/officeDocument/2006/relationships/notesSlide" Target="/ppt/notesSlides/notesSlide3.xml" Id="R262bd18266e3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c7ce041b64987" /><Relationship Type="http://schemas.openxmlformats.org/officeDocument/2006/relationships/image" Target="/ppt/media/image2.png" Id="Rbcd67d03525e4172" /><Relationship Type="http://schemas.openxmlformats.org/officeDocument/2006/relationships/notesSlide" Target="/ppt/notesSlides/notesSlide4.xml" Id="R10ed9b2e1c3d4b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9a7d5aa624184" /><Relationship Type="http://schemas.openxmlformats.org/officeDocument/2006/relationships/notesSlide" Target="/ppt/notesSlides/notesSlide5.xml" Id="R474bc9da7e4949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982d048a42ac" /><Relationship Type="http://schemas.openxmlformats.org/officeDocument/2006/relationships/notesSlide" Target="/ppt/notesSlides/notesSlide6.xml" Id="R3a7bd65155e8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18BA1-F40E-4468-AB0E-DCA40D01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TEAM ASDASD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7328-B995-49F7-839C-B32F4B6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AI FOR KOSOVO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9784E-A742-4EE9-AECF-6D9ED6E9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DFFF5-6A95-4947-A80C-7B673C95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An adaptive AI tutor for Kosovo's Matura exam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FD6F-3C0B-4853-A661-5B71C2D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3B38C-DCB7-45F1-B68A-3B6AAC0B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7D146-EFED-4EE9-BEED-60759330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every high school student in Kosovo prepare for and pass the Matura exam.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2CC68-9CCD-4091-BB34-A0A2DAB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Genpact qualifying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50196-B716-4AE2-8F07-F5A55A28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Bardh Hasani, Edion Hashani, Jon Arifi</a:t>
            </a:r>
          </a:p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Loris Berisha, Rumejsa Dahsyla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068A9-8FCE-4184-9070-791FC411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19200"/>
            <a:ext cx="238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0" b="1">
                <a:solidFill>
                  <a:srgbClr val="163E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0" b="1">
                <a:solidFill>
                  <a:srgbClr val="163E5B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E8FE7-F583-44DB-A4EF-BB774A3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A5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CA5B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8780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71C15-F877-4C66-8C41-B42EA5D9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AAB62-1E68-4CA8-B7BF-911BA6A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Answers alone do not show students what to study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E36C-C070-49CE-82E7-26C64CC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68.6%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A95E2-CA82-41DE-B859-88A6F035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passed the June 2025 Matura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C0A04-3013-4781-B1A9-50FADDF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18,800 candidates sat the exam. A generic chatbot can answer a question, but it cannot show a student what to study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A531B-F6F1-4826-8B46-58BA29B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6DAC9-7BF5-4842-8548-DF02FF6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668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current study tools miss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99FF1-162C-4F94-93B8-7AF0959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AF874-24C7-40D4-BA25-E958357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Generic chat cannot diagnose weak skills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90B8F-02CE-4CE5-8132-0517D354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correct reply does not create a study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474CE-D222-405F-9AA7-A8070445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687C9-4473-4322-9656-589C62C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AI-generated grading is hard to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834A-7A8C-445F-AFCA-990420D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Exam practice needs fixed answers and explanations.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7D236-E485-417C-BC82-A7FA1C6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A74E4-B2E5-4D44-B033-B6FD20A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National scale needs evidence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436C3-54C4-41CA-B7E3-8E04153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focused pilot can test learning before expansion.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584DC-6DB9-478B-82C6-9704546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Source: MAShTI, 30 June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527DA-7BBF-4C59-ACF8-57EAC0C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F6997-572E-4ADA-8C18-9C60CF5E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4468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52DB68-44A5-4163-957F-ACCE109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D5C75-9965-4E75-BB38-44D7628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Diagnostic first. Practice follows the weakest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21792-3E96-43C5-AA72-DA9AD029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first useful output is a personal skill map and one focused next action.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d741e20844f2c"/>
          <a:srcRect xmlns:a="http://schemas.openxmlformats.org/drawingml/2006/main" l="0" t="56" r="0" b="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5095875" cy="3181350"/>
          </a:xfrm>
          <a:prstGeom xmlns:a="http://schemas.openxmlformats.org/drawingml/2006/main" prst="roundRect">
            <a:avLst>
              <a:gd name="adj" fmla="val 479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818F3-39FE-4295-AFE7-9A1000BF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AEFF6-A7AF-4485-88E7-E02164D5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27F3-2726-4353-B720-E7D490E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90CB3-0178-4BFC-9E58-7E2A0A60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574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9248B-6A99-445A-A41F-2130FA3B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F350-4592-422A-AFA1-6701DA5C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C4850-496B-4433-B3CF-A82F89BA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908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Personal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57A31-FF1D-4DD8-9BC6-2DBDBB9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384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65EDD-DD84-4AC0-A455-B7C1F7E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88378-8975-46BF-8642-D48CF64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B64A5-4D2D-40BC-A699-06419C0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Focused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E5950-FC69-42EB-AC4A-92517124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81952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B7288-DDF8-4DF7-B908-196E5B4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271DA-6E64-4BCE-B1A1-3AA9AE10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CA938-735C-4FAE-9C6F-696BF776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529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F68CB-7071-4D6B-A4AC-48F2545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005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1844E-CECF-4C3B-AEC1-94DF04D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E0348-BF00-4AF0-9F1D-E24D373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3721F-68F9-4C8F-962D-4E454C3A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717927-B59E-44C5-A10F-D0A8655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48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Albanian + English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3F152-6761-409E-AE50-BBDA7BC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48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3 elective choices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A4E79-C8CF-4EB3-A90E-79632E1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57F12-28AF-4394-BAFE-3F79586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645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D872D-DD74-43C0-8101-11A5A2F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WORKING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9CA44-D180-45FA-9E23-42A84EC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One correct answer moves Algebra from 25% to 40%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93FD1-CAE1-40A6-9978-75C44601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 fixed question bank grades the learner. Gemma coaches without controlling the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6A8C-5151-4FB2-94AA-5906AF72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18240-7050-4A47-8CF2-F4E3164F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Algebra before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9BF38-9A16-48DF-8D30-739C0FA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2DE8E-48AC-413A-9B8C-1C34AF54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52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6EC7-4E0C-45BF-B47D-05C6063E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after one correct answer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877A9-8501-4CCB-B961-161148D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Verified in the live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AE0FA-4F99-4898-9449-BE80344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52536"/>
                </a:solidFill>
                <a:latin typeface="Helvetica Neue"/>
                <a:ea typeface="Helvetica Neue"/>
                <a:cs typeface="Helvetica Neue"/>
              </a:rPr>
              <a:t>The tutor returned a hint to “give me only the answer.” The deterministic engine then moved mastery from 25% to 40%.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67d03525e4172"/>
          <a:srcRect xmlns:a="http://schemas.openxmlformats.org/drawingml/2006/main" l="0" t="5038" r="0" b="5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7716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DA215-16FB-49D7-B9E3-AC59EACA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587C8-8E83-4E4C-BACE-5B26BBFB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564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10460-7B80-4952-9F3F-A2676BD1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TRUST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D8490-EFAE-400A-944F-44E93B26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The model teaches. Deterministic code 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B5AAA-0CBF-41E9-B32A-2B92848B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The learning path continues when the model provider is unavailable.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DAED0-FB10-4ED2-968D-B6064D5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4F7CA-4475-4518-8E1B-120F222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037DA-BB03-4BAA-9CD2-752F110F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Multiple choice answer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Language + elective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70DF3-9600-45F4-8E6F-A60084F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B3A87-7A24-4ED3-8112-4275F42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E7B72-19BA-4697-967E-AC41D259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Learning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091AF-CB9A-4860-AE40-7A54713D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Deterministic score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Weakest skill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50D90-9CA0-4411-A000-DD8E7CB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5C7E5-4B2C-462B-8928-7E54191D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F7F0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88695-A949-4701-92F6-2DCC699F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Gemma coach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A0004-C848-4C9E-AF2A-1F95340A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Hint first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Solution after 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19D8E-C2D1-47B8-B4DC-5A7F9C94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241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3EF10-E4EA-4B98-A70D-A72F8E80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190750" cy="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AE157-674A-4F50-9C41-803CB520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Student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D3E12-5B31-45C0-AF3B-58B1939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Skill mastery</a:t>
            </a:r>
          </a:p>
          <a:p xmlns:a="http://schemas.openxmlformats.org/drawingml/2006/main">
            <a:pPr algn="l">
              <a:def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Next practice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6D8ED-6A45-4665-9B2B-114A2DEC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57625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4DD08-9655-4711-B1AA-DAF0DA1F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54 bilingual questions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C61DB-504B-45BD-91ED-4BD146F2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PostgreSQL + SQLAlchemy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5DB52-DAFA-428D-B9CC-A131C8D0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71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Source-grounded 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0C08F-ACE6-4B45-983F-6E517E56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3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Stored hints are the fallback. Correct answers and mastery never depend on an LLM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35FE3-C2F5-4223-8F0F-6214EF0B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Public launch still requires authentication, ownership controls, moderation and rate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6CA5F-194A-43B1-99A2-469E8C9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EE2BF-7DA1-4D1D-A8B8-0DDF02D2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0406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8A629-684D-4C5D-9B67-1ACAF63D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E0CF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38394-138D-4699-90D5-8A9FDD2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Two schools. Six weeks. One measurable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91A2D-DBF8-468B-BF49-D61A4D9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Does targeted practice improve mastery in Albanian and Mathematics?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58893-F784-499D-9938-54741D8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9507D-0826-4A47-982F-C3E403E2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EDE59-EC68-446B-BA11-F9D21FE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Diagnostic + teacher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F61DB-1633-441E-91FA-FC5A9A0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B7F17-2439-4F1E-A1EA-6DBE45D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2–5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27ADE-AA74-4DB0-967F-3F10996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2B7E3-62D9-421B-A6BE-61364D44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Three short sessions each week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91843-63F8-4777-9F72-936CEB8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288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C4E6F-8AE5-42EB-A853-47769DB4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B94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20286-D6DE-4D2E-A915-74169FA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E415C-745D-41DD-8F57-0E31D27B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Repeat items + student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B88DF-0944-4312-9BD1-87C7C763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70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008AF-50CE-4F7E-A41E-2336D147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 for students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F9BBA-77B4-43ED-AFEA-851D7CDC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A municipality, school partner or CSR sponsor funds the pilot. No student advertising in the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BD95-D235-49D5-A2F9-818DA4DC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82F11-D078-4ACF-9533-5BD5F324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8D9E6"/>
                </a:solidFill>
                <a:latin typeface="Helvetica Neue"/>
                <a:ea typeface="Helvetica Neue"/>
                <a:cs typeface="Helvetica Neue"/>
              </a:rPr>
              <a:t>Run the six-week school pilot, compare baseline and follow-up mastery, then use the results to plan wider rollout.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72121-9378-49E0-B9BE-18A0F68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MATURA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DBD21-8A86-48AB-8687-13CF28C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8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1214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2026-09-25T15:40:00.0480000Z</dcterms:created>
  <dcterms:modified xsi:type="dcterms:W3CDTF">2026-09-25T15:40:00.0480000Z</dcterms:modified>
</coreProperties>
</file>