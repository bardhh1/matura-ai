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1930bcb0c642e2" /><Relationship Type="http://schemas.openxmlformats.org/officeDocument/2006/relationships/extended-properties" Target="/docProps/app.xml" Id="Ra0b7f760a7ed4a9f" /><Relationship Type="http://schemas.openxmlformats.org/officeDocument/2006/relationships/officeDocument" Target="/ppt/presentation.xml" Id="Rb022ec5240a0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0ac2275154f5e"/>
  </p:sldMasterIdLst>
  <p:notesMasterIdLst>
    <p:notesMasterId xmlns:r="http://schemas.openxmlformats.org/officeDocument/2006/relationships" r:id="R865a5d34c3dd4d23"/>
  </p:notesMasterIdLst>
  <p:sldIdLst>
    <p:sldId xmlns:r="http://schemas.openxmlformats.org/officeDocument/2006/relationships" id="256" r:id="R3d58cd12c8db4382"/>
    <p:sldId xmlns:r="http://schemas.openxmlformats.org/officeDocument/2006/relationships" id="257" r:id="R8f40fd4cdd904730"/>
    <p:sldId xmlns:r="http://schemas.openxmlformats.org/officeDocument/2006/relationships" id="258" r:id="R535da1f8576e452e"/>
    <p:sldId xmlns:r="http://schemas.openxmlformats.org/officeDocument/2006/relationships" id="259" r:id="R0a7ec92adc3a4d80"/>
    <p:sldId xmlns:r="http://schemas.openxmlformats.org/officeDocument/2006/relationships" id="260" r:id="R2a8666c43e6b4137"/>
    <p:sldId xmlns:r="http://schemas.openxmlformats.org/officeDocument/2006/relationships" id="261" r:id="R487b4b8649e2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de554cc8b49ee" /><Relationship Type="http://schemas.openxmlformats.org/officeDocument/2006/relationships/slideMaster" Target="/ppt/slideMasters/slideMaster1.xml" Id="R8a20ac2275154f5e" /><Relationship Type="http://schemas.openxmlformats.org/officeDocument/2006/relationships/notesMaster" Target="/ppt/notesMasters/notesMaster1.xml" Id="R865a5d34c3dd4d23" /><Relationship Type="http://schemas.openxmlformats.org/officeDocument/2006/relationships/presProps" Target="/ppt/presProps.xml" Id="Rcd3b27658c93412d" /><Relationship Type="http://schemas.openxmlformats.org/officeDocument/2006/relationships/tableStyles" Target="/ppt/tableStyles.xml" Id="R127747660c8241e3" /><Relationship Type="http://schemas.openxmlformats.org/officeDocument/2006/relationships/slide" Target="/ppt/slides/slide1.xml" Id="R3d58cd12c8db4382" /><Relationship Type="http://schemas.openxmlformats.org/officeDocument/2006/relationships/slide" Target="/ppt/slides/slide2.xml" Id="R8f40fd4cdd904730" /><Relationship Type="http://schemas.openxmlformats.org/officeDocument/2006/relationships/slide" Target="/ppt/slides/slide3.xml" Id="R535da1f8576e452e" /><Relationship Type="http://schemas.openxmlformats.org/officeDocument/2006/relationships/slide" Target="/ppt/slides/slide4.xml" Id="R0a7ec92adc3a4d80" /><Relationship Type="http://schemas.openxmlformats.org/officeDocument/2006/relationships/slide" Target="/ppt/slides/slide5.xml" Id="R2a8666c43e6b4137" /><Relationship Type="http://schemas.openxmlformats.org/officeDocument/2006/relationships/slide" Target="/ppt/slides/slide6.xml" Id="R487b4b8649e2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69c8f13ff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dfb3ab6f0452e" /><Relationship Type="http://schemas.openxmlformats.org/officeDocument/2006/relationships/notesMaster" Target="/ppt/notesMasters/notesMaster1.xml" Id="R4726b682ceb942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0e1ca06094e04" /><Relationship Type="http://schemas.openxmlformats.org/officeDocument/2006/relationships/notesMaster" Target="/ppt/notesMasters/notesMaster1.xml" Id="Ra1047c165cba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185a5bf3e42b6" /><Relationship Type="http://schemas.openxmlformats.org/officeDocument/2006/relationships/notesMaster" Target="/ppt/notesMasters/notesMaster1.xml" Id="R2fd663d4cc2343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a0fea727da41c2" /><Relationship Type="http://schemas.openxmlformats.org/officeDocument/2006/relationships/notesMaster" Target="/ppt/notesMasters/notesMaster1.xml" Id="Rf7dd6a640baf47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56d70909a469b" /><Relationship Type="http://schemas.openxmlformats.org/officeDocument/2006/relationships/notesMaster" Target="/ppt/notesMasters/notesMaster1.xml" Id="R2ff0e12af8dc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632bcf4854b57" /><Relationship Type="http://schemas.openxmlformats.org/officeDocument/2006/relationships/notesMaster" Target="/ppt/notesMasters/notesMaster1.xml" Id="R6f3abc382fd4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asdasd. Track and challenge wording supplied by the team for the Genpact qualifying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Kosovo Ministry of Education, Science, Technology and Innovation, ‘68.6% kalueshmëria e Provimit të Maturës’, 30 June 2025. https://masht.rks-gov.net/news/page/5/</a:t>
            </a:r>
          </a:p>
          <a:p xmlns:a="http://schemas.openxmlformats.org/drawingml/2006/main">
            <a:r>
              <a:t>The product gaps are the team's assessment. Student interviews have not yet been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implemented local Vue application on 25 September 2026. The demo supports Albanian and English, with History, Biology or Informatics as the elective.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Practice screenshot captured from the implemented local application. The 25% to 40% change was verified through the running API and browser flow on 25 September 2026. It follows the declared deterministic mastery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repository: FastAPI, SQLAlchemy, PostgreSQL or SQLite for development, pgvector for Library RAG, and Gemma through OpenRouter. The demo bank is explicitly not an official MAShTI question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scope and funding model are proposed assumptions for validation. No interviews or adoption claims are presented as completed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c6732af34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9e7a57dae43ec" /><Relationship Type="http://schemas.openxmlformats.org/officeDocument/2006/relationships/slideLayout" Target="/ppt/slideLayouts/slideLayout1.xml" Id="R6337fa72671140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7fa72671140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fa034b574022" /><Relationship Type="http://schemas.openxmlformats.org/officeDocument/2006/relationships/notesSlide" Target="/ppt/notesSlides/notesSlide1.xml" Id="R2e71d85569d149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81d25fda4551" /><Relationship Type="http://schemas.openxmlformats.org/officeDocument/2006/relationships/notesSlide" Target="/ppt/notesSlides/notesSlide2.xml" Id="R9f0a78ad9017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78221ab24d6d" /><Relationship Type="http://schemas.openxmlformats.org/officeDocument/2006/relationships/image" Target="/ppt/media/image.png" Id="Rdb54c87b62574e53" /><Relationship Type="http://schemas.openxmlformats.org/officeDocument/2006/relationships/notesSlide" Target="/ppt/notesSlides/notesSlide3.xml" Id="Rb3eaaad78c4f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26902460b4948" /><Relationship Type="http://schemas.openxmlformats.org/officeDocument/2006/relationships/image" Target="/ppt/media/image2.png" Id="R911a32e444684a19" /><Relationship Type="http://schemas.openxmlformats.org/officeDocument/2006/relationships/notesSlide" Target="/ppt/notesSlides/notesSlide4.xml" Id="R6bc09a402cea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1b525141848cd" /><Relationship Type="http://schemas.openxmlformats.org/officeDocument/2006/relationships/notesSlide" Target="/ppt/notesSlides/notesSlide5.xml" Id="R499c5b8e02f8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6cfd582af42b8" /><Relationship Type="http://schemas.openxmlformats.org/officeDocument/2006/relationships/notesSlide" Target="/ppt/notesSlides/notesSlide6.xml" Id="R8bf4be91643c47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4D36A-0C01-4F37-8D10-1C92D47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TEAM ASDASD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3AB28-1B98-43CA-84E0-4D0F15D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AI FOR KOSOVO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A3F8E-39F1-43D1-A7CD-48F8EE8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7EDF1-21C4-4EFD-89FC-D178629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An adaptive AI tutor for Kosovo's Matura exam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EAE11-209F-4579-A7E3-99D3162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24722-F8E1-4791-BD22-A6FB812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451D6-74EB-4D5C-92B8-45B31D19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every high school student in Kosovo prepare for and pass the Matura exam.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3D8A2-5983-4005-BBE2-13060BE2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Genpact qualifying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3F315-D087-49A6-B82D-334F4F3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Bardh Hasani, Edion Hashani, Jon Arifi</a:t>
            </a:r>
          </a:p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Loris Berisha, Rumejsa Dahsyla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F31DD-1E2A-40BD-B6F1-C2F41D7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19200"/>
            <a:ext cx="238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0" b="1">
                <a:solidFill>
                  <a:srgbClr val="163E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0" b="1">
                <a:solidFill>
                  <a:srgbClr val="163E5B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188D-F92A-4B31-8681-92CE7D8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CA5B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895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46255-E0AD-4957-8987-0D2ED66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39E19-B514-450C-9F9C-F4323EE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Answers alone do not show students what to study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BFC57-71C9-4342-9C9E-4DCA6380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68.6%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CB55F-42F3-4DD1-8619-004EB43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passed the June 2025 Matura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FBF8E-1558-4723-BECA-8D2C58B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18,800 candidates sat the exam. A generic chatbot can answer a question, but it cannot show a student what to study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BF3D9-3E23-4A15-AB21-B07B4E5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2A1EE-50DF-47C6-B513-BCF8CE8E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current study tools miss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D707A-0711-42B7-B3A2-A4B02F9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1DB1-7D5D-4DC9-A026-5DE0BDD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Generic chat cannot diagnose weak skills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3C58F-56BE-4096-BF46-3FE71D8A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correct reply does not create a study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A931E-5694-41AA-8215-64D6D5A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161DC-13DC-4A80-A318-7092FE4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AI-generated grading is hard to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8C0CA-3B59-4EAD-ACCE-D702F43B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Exam practice needs fixed answers and explanations.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68A62-AC76-4000-BD7E-5F095BD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9AC9C-A13C-4659-8F78-C330128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National scale needs evidence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BBDB3-8C66-42E6-ADCA-3702E78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focused pilot can test learning before expansion.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9497E-5D8B-4846-93CA-37AF835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Source: MAShTI, 30 June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353A5-7679-46A4-89D1-6252585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05085-9EA3-47A0-9E8C-CA406249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2162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E16AE-1441-4039-AFA3-737778C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9A9B2-130E-4C5D-8BF2-4D75D18E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Diagnostic first. Practice follows the weakest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5538E-92DB-437C-BD7D-EA12ED9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first useful output is a personal skill map and one focused next action.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4c87b62574e53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5095875" cy="3181350"/>
          </a:xfrm>
          <a:prstGeom xmlns:a="http://schemas.openxmlformats.org/drawingml/2006/main" prst="roundRect">
            <a:avLst>
              <a:gd name="adj" fmla="val 479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173EE-DEC1-44D0-8830-8F3F259A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758E9-54EB-4528-AC98-6DA9D867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3E42-27D9-4F25-A62F-82E279DE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4C045-DF64-4056-99C8-AB7F0415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574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CED6D-DD9D-4440-B199-35A91880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02313-1E73-4E2A-88B2-0AA3D6E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3DDCC-F0F3-4CF5-B376-90263D93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90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Personal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637FA-990D-443B-8667-BABD97B7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384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02299-96AE-44EE-A3D3-98F86CD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40826-6DC4-423D-A91A-AA3D180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D9B8C-D786-4A9B-9DEB-B7EFC3FD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Focused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3823E-C234-4E05-ABD6-BD8A04E4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95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335FD-9337-4386-BC47-E4D073C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E4D14-4270-4A25-8B7D-4F00E03B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86E03-277C-414C-BC0A-B26AE8E3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27C46-D55A-432E-AB25-F7CEB10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005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D11FF-7E8A-4A91-A1AE-37D8861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9610E-0CCF-46C6-9C09-FFCFCAA1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C02A7-41E4-4DED-9C97-7899AE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1DF76-0709-4DC9-930B-CAC43502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48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Albanian + English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17BFD-DAA0-4CC9-922E-CD000191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48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3 elective choices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3F43A-923E-4898-985F-34AA24A7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14F0C-EA21-41C5-ACD5-0FC2A53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881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A7CC7-48DF-48B8-A2F3-E49BAD9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WORKING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856BC-DAFA-49E3-89A8-A9F67D3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One correct answer moves Algebra from 25% to 40%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EAF7-E214-448A-A87B-2FA0D11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fixed question bank grades the learner. Gemma coaches without controlling the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A3F7A-92CA-4B51-9733-F901497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E8270-98F4-4386-BF6C-8AE2DB2C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Algebra before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DA63-A273-4DEC-9350-B6FDD40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9E1CF-CCEA-4C21-8A1F-BFC03AA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21CB5-D9B1-4992-A989-E6B65E7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after one correct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D8AB4-2B36-4119-8D16-DA59F465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Verified in the live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41099-96A8-42AE-847D-53B90388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The tutor returned a hint to “give me only the answer.” The deterministic engine then moved mastery from 25% to 40%.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a32e444684a19"/>
          <a:srcRect xmlns:a="http://schemas.openxmlformats.org/drawingml/2006/main" l="0" t="5038" r="0" b="5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7716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276DC-7E5F-44C5-A850-079EC83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A47FB-CF4B-4AC9-A718-CDEEA99A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9324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B8467-F662-4214-9409-F0EBF53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TRUST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B53FD-2463-446A-BBB7-5D0A18E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model teaches. Deterministic code 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E10CD-9D09-4E29-9DBB-33E86130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learning path continues when the model provider is unavailable.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A789F-C2F6-48CE-8F81-438D2FB0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3405-33A7-46F7-AC41-A90A7D28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CEE34-63BA-4C16-8FC6-776A4ED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Multiple choice answer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Language + elective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30D01-5A80-4BEF-8F0A-832129E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CECAE-ADB0-4E68-9B79-1CD0498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A689-44C3-4D71-ABFC-EDE505C9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Learning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58BB0-269C-49C8-AC4B-96F0FFB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Deterministic score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Weakest skill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5C43F-01B3-4F30-A097-77824A1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11B55-E8FE-4153-AC8B-2366BCA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0BB25-0464-4739-BD96-353F31A9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Gemma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777DA-4EF4-4994-97CA-F36FA02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Hint first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Solution after 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67D11-1464-4A23-9C59-67249A3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35054-72F6-4FD3-9771-886D6789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9BE46-8E11-4EC3-A3C1-A9FFBEF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C3E40-8F91-48F4-A20C-EBD627E7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Skill mastery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Next practice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4D5C0-C668-4DA7-A123-7B5A712A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9083F-BC89-44A0-A357-1DD9FF1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54 bilingual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E09D7-B539-4306-B076-C76ACDE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PostgreSQL + 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1186D-406A-4830-8BED-F7A13519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Source-grounded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0C9D8-0BEA-4DF2-B3B9-59A433C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Stored hints are the fallback. Correct answers and mastery never depend on an LLM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D4FAF-30B9-4FB3-B934-D801BDF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Public launch still requires authentication, ownership controls, moderation and rate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DF147-E900-4094-BA1D-6DB18617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64B7D-6A7A-4D6C-ACC8-1D3FA308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6845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123D1-2AB6-4797-9806-663DB93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37ADC-F640-499E-99DF-5CF67B5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schools. Six weeks. One measurable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01A2C-1B89-4617-8C0A-10791639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Does targeted practice improve mastery in Albanian and Mathematics?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9CF63-BACE-4159-B725-DA34756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3E93B-1C37-4A93-8972-65EC4096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F7D6A-9EB3-4C8B-BD07-3CA64531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Diagnostic + teacher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4EBC1-3183-4C55-AB33-62E98A3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55608-A06F-4C21-A253-33BA8E6A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2–5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89F3A-113A-436E-A83F-83E0B26B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BF06F-D9AA-42C1-AB37-0E2469E8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Three short sessions each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812F8-632E-4624-A91E-C51ED4A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17635-6A6D-4237-9967-909855A7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42928-67D5-4C86-9DA9-35FA2F53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C7767-BB2F-4D25-9356-A6FFBF8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Repeat items + student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F6F87-C35C-4858-B0FA-212341A4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56FFD-3DEF-4B22-A137-1ABAAD3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 for students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93CDF-3D74-4AE3-B3C9-E95DEA9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A municipality, school partner or CSR sponsor funds the pilot. No student advertising in the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0A201-46FC-4EDA-8F4C-919F45F0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3BF5B-CC61-4F17-AB4B-2B128FDC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Product behavior is verified. Student and teacher interviews remain the next validation step. We make no research or traction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EFAA6-05C8-454B-ADDC-2E7CF8F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0283F-34BA-4462-9BAC-724F6C66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6636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2026-09-25T15:24:35.0840000Z</dcterms:created>
  <dcterms:modified xsi:type="dcterms:W3CDTF">2026-09-25T15:24:35.0840000Z</dcterms:modified>
</coreProperties>
</file>