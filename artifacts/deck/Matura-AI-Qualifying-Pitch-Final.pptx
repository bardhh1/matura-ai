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d84491ecdf94946" /><Relationship Type="http://schemas.openxmlformats.org/officeDocument/2006/relationships/extended-properties" Target="/docProps/app.xml" Id="Rd799efb89eda4ca6" /><Relationship Type="http://schemas.openxmlformats.org/officeDocument/2006/relationships/officeDocument" Target="/ppt/presentation.xml" Id="R0b2d269ccfdd42b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1c43285f9934651"/>
  </p:sldMasterIdLst>
  <p:notesMasterIdLst>
    <p:notesMasterId xmlns:r="http://schemas.openxmlformats.org/officeDocument/2006/relationships" r:id="R69cf40d79ffc4c9d"/>
  </p:notesMasterIdLst>
  <p:sldIdLst>
    <p:sldId xmlns:r="http://schemas.openxmlformats.org/officeDocument/2006/relationships" id="256" r:id="R318e0967edc043ee"/>
    <p:sldId xmlns:r="http://schemas.openxmlformats.org/officeDocument/2006/relationships" id="257" r:id="R73095475d89c4ad8"/>
    <p:sldId xmlns:r="http://schemas.openxmlformats.org/officeDocument/2006/relationships" id="258" r:id="Rc59539923e364cee"/>
    <p:sldId xmlns:r="http://schemas.openxmlformats.org/officeDocument/2006/relationships" id="259" r:id="R975a5d720acc4d1e"/>
    <p:sldId xmlns:r="http://schemas.openxmlformats.org/officeDocument/2006/relationships" id="260" r:id="R7296e907dec244f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6cc83c2681c41a0" /><Relationship Type="http://schemas.openxmlformats.org/officeDocument/2006/relationships/slideMaster" Target="/ppt/slideMasters/slideMaster1.xml" Id="R51c43285f9934651" /><Relationship Type="http://schemas.openxmlformats.org/officeDocument/2006/relationships/notesMaster" Target="/ppt/notesMasters/notesMaster1.xml" Id="R69cf40d79ffc4c9d" /><Relationship Type="http://schemas.openxmlformats.org/officeDocument/2006/relationships/presProps" Target="/ppt/presProps.xml" Id="Rabfc764b19794519" /><Relationship Type="http://schemas.openxmlformats.org/officeDocument/2006/relationships/tableStyles" Target="/ppt/tableStyles.xml" Id="R399eb1bfe5f7463a" /><Relationship Type="http://schemas.openxmlformats.org/officeDocument/2006/relationships/slide" Target="/ppt/slides/slide1.xml" Id="R318e0967edc043ee" /><Relationship Type="http://schemas.openxmlformats.org/officeDocument/2006/relationships/slide" Target="/ppt/slides/slide2.xml" Id="R73095475d89c4ad8" /><Relationship Type="http://schemas.openxmlformats.org/officeDocument/2006/relationships/slide" Target="/ppt/slides/slide3.xml" Id="Rc59539923e364cee" /><Relationship Type="http://schemas.openxmlformats.org/officeDocument/2006/relationships/slide" Target="/ppt/slides/slide4.xml" Id="R975a5d720acc4d1e" /><Relationship Type="http://schemas.openxmlformats.org/officeDocument/2006/relationships/slide" Target="/ppt/slides/slide5.xml" Id="R7296e907dec244f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d418b7f76324f8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f73da936e1e4375" /><Relationship Type="http://schemas.openxmlformats.org/officeDocument/2006/relationships/notesMaster" Target="/ppt/notesMasters/notesMaster1.xml" Id="Ra8f189c5feda4ae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c0922a5b8e940ec" /><Relationship Type="http://schemas.openxmlformats.org/officeDocument/2006/relationships/notesMaster" Target="/ppt/notesMasters/notesMaster1.xml" Id="R5697fdbf65804b5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75ad551a7ca414c" /><Relationship Type="http://schemas.openxmlformats.org/officeDocument/2006/relationships/notesMaster" Target="/ppt/notesMasters/notesMaster1.xml" Id="R3be068e30cbb4c9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fb3ce9d8eaf4431" /><Relationship Type="http://schemas.openxmlformats.org/officeDocument/2006/relationships/notesMaster" Target="/ppt/notesMasters/notesMaster1.xml" Id="Rd8850695e5154b9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2423ec8d0b34ad5" /><Relationship Type="http://schemas.openxmlformats.org/officeDocument/2006/relationships/notesMaster" Target="/ppt/notesMasters/notesMaster1.xml" Id="R1a057921d9664c0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Kosovo Ministry of Education, Science, Technology and Innovation, ‘68.6% kalueshmëria e Provimit të Maturës’, 30 June 2025. https://masht.rks-gov.net/news/page/5/</a:t>
            </a:r>
          </a:p>
          <a:p xmlns:a="http://schemas.openxmlformats.org/drawingml/2006/main">
            <a:r>
              <a:t>The three pitch problems are the team's assessment. Student interviews have not yet been completed.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Screenshot captured from the implemented local Vue application on 25 September 2026. The demo supports Albanian and English, with History, Biology or Informatics as the elective.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Practice screenshot captured from the implemented local application. The 25% to 40% change was verified through the running API and browser flow on 25 September 2026. It follows the declared deterministic mastery formula.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Architecture reflects the implemented repository: FastAPI, SQLAlchemy, PostgreSQL or SQLite for development, pgvector for Library RAG, and Gemma through OpenRouter. The demo bank is explicitly not an official MAShTI question bank.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Pilot scope and funding model are proposed assumptions for validation. No interviews or adoption claims are presented as completed evidence.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419ca390bc94e9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9fa8dcadcd24dad" /><Relationship Type="http://schemas.openxmlformats.org/officeDocument/2006/relationships/slideLayout" Target="/ppt/slideLayouts/slideLayout1.xml" Id="Rd80bc28872aa4ac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80bc28872aa4ac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60e1e624f34d77" /><Relationship Type="http://schemas.openxmlformats.org/officeDocument/2006/relationships/notesSlide" Target="/ppt/notesSlides/notesSlide1.xml" Id="R7e4cc0ff3c21420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3d07c7db60487c" /><Relationship Type="http://schemas.openxmlformats.org/officeDocument/2006/relationships/image" Target="/ppt/media/image.png" Id="R7eff1d0185cf4805" /><Relationship Type="http://schemas.openxmlformats.org/officeDocument/2006/relationships/notesSlide" Target="/ppt/notesSlides/notesSlide2.xml" Id="Rb188ac41709a4e4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a70a162b6b4af2" /><Relationship Type="http://schemas.openxmlformats.org/officeDocument/2006/relationships/image" Target="/ppt/media/image2.png" Id="Rb3c480a997ce42f2" /><Relationship Type="http://schemas.openxmlformats.org/officeDocument/2006/relationships/notesSlide" Target="/ppt/notesSlides/notesSlide3.xml" Id="R06395d6a38eb470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fb55f502184c1c" /><Relationship Type="http://schemas.openxmlformats.org/officeDocument/2006/relationships/notesSlide" Target="/ppt/notesSlides/notesSlide4.xml" Id="R9a44245accc54da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53ee5852a54e5a" /><Relationship Type="http://schemas.openxmlformats.org/officeDocument/2006/relationships/notesSlide" Target="/ppt/notesSlides/notesSlide5.xml" Id="Re5f31421f3be48f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4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9E05A78-33A1-40CF-9B31-EFBAD7491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rPr>
              <a:t>MATURA AI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4E04BA-CA29-4E93-9DBA-DD1A86945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8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4788B"/>
                </a:solidFill>
                <a:latin typeface="Helvetica Neue"/>
                <a:ea typeface="Helvetica Neue"/>
                <a:cs typeface="Helvetica Neue"/>
              </a:rPr>
              <a:t>A personal coach for Kosovo's Matura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69BC0A-5B44-414B-937E-D594DE29C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0200"/>
            <a:ext cx="4000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90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690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rPr>
              <a:t>68.6%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3F428F-10C4-4F75-80B7-A24580272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8130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6B8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76B87"/>
                </a:solidFill>
                <a:latin typeface="Helvetica Neue"/>
                <a:ea typeface="Helvetica Neue"/>
                <a:cs typeface="Helvetica Neue"/>
              </a:rPr>
              <a:t>passed the June 2025 Matura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072D8D-03AA-463E-9362-3B50B192E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76600"/>
            <a:ext cx="4762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525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152536"/>
                </a:solidFill>
                <a:latin typeface="Helvetica Neue"/>
                <a:ea typeface="Helvetica Neue"/>
                <a:cs typeface="Helvetica Neue"/>
              </a:rPr>
              <a:t>18,800 candidates sat the exam. A generic chatbot can answer a question, but it cannot show a student what to study next.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4B821E-EE96-4DC8-AA9A-58F84F89A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428750"/>
            <a:ext cx="1905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3EA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E91CC3-B42F-4404-A0E5-6518E5E84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466850"/>
            <a:ext cx="476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037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rPr>
              <a:t>The original pitch breaks in three places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5CFB8D-428C-4ABE-9C17-7FA7A91CA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190750"/>
            <a:ext cx="514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8A99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8A999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5D6D21-E571-4C91-9638-FF035F2CA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17170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825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rPr>
              <a:t>Correct answers cannot be guaranteed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ABA2098-2901-4B58-AE50-E72DE483A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552700"/>
            <a:ext cx="3810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78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4788B"/>
                </a:solidFill>
                <a:latin typeface="Helvetica Neue"/>
                <a:ea typeface="Helvetica Neue"/>
                <a:cs typeface="Helvetica Neue"/>
              </a:rPr>
              <a:t>Open generation is too risky for grading.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A91773C-D2C4-4701-B7D7-7A60D134E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429000"/>
            <a:ext cx="514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8A99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8A999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FE0F1AD-4A25-4CE9-8F4C-C4E372500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40995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031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rPr>
              <a:t>38 municipalities in four weeks has no pilot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CD94938-8D40-4F75-9798-4AD99171B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790950"/>
            <a:ext cx="3810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78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4788B"/>
                </a:solidFill>
                <a:latin typeface="Helvetica Neue"/>
                <a:ea typeface="Helvetica Neue"/>
                <a:cs typeface="Helvetica Neue"/>
              </a:rPr>
              <a:t>There is no evidence loop before national scale.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D016DCD-619D-4178-B51C-41BD9F093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667250"/>
            <a:ext cx="514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8A99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8A999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BE69B40-522F-436A-AC85-0917CD92E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64820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825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rPr>
              <a:t>Ads weaken trust with students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1DE60F3-3F75-414A-A7EC-7BC01E28A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5029200"/>
            <a:ext cx="3810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78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4788B"/>
                </a:solidFill>
                <a:latin typeface="Helvetica Neue"/>
                <a:ea typeface="Helvetica Neue"/>
                <a:cs typeface="Helvetica Neue"/>
              </a:rPr>
              <a:t>A school or municipality funded pilot fits the user.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852E18E-9A9B-4B1F-BB79-C51376B41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1505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8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4788B"/>
                </a:solidFill>
                <a:latin typeface="Helvetica Neue"/>
                <a:ea typeface="Helvetica Neue"/>
                <a:cs typeface="Helvetica Neue"/>
              </a:rPr>
              <a:t>Source: MAShTI, 30 June 2025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297409E-56E7-419B-89A8-ACF49DC12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478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64788B"/>
                </a:solidFill>
                <a:latin typeface="Helvetica Neue"/>
                <a:ea typeface="Helvetica Neue"/>
                <a:cs typeface="Helvetica Neue"/>
              </a:rPr>
              <a:t>MATURA AI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82F6323-BF51-4823-9B35-DDC2210C5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478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64788B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79597804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FCEB463-5406-48A6-8988-B32E67FF1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8A999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18A999"/>
                </a:solidFill>
                <a:latin typeface="Helvetica Neue"/>
                <a:ea typeface="Helvetica Neue"/>
                <a:cs typeface="Helvetica Neue"/>
              </a:rPr>
              <a:t>PRODUCT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B94EED-3F9B-4870-A0A4-FBA69A6A0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76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rPr>
              <a:t>A tutor that learns what the student does not know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89515B-4271-47C2-96F7-10794F171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8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4788B"/>
                </a:solidFill>
                <a:latin typeface="Helvetica Neue"/>
                <a:ea typeface="Helvetica Neue"/>
                <a:cs typeface="Helvetica Neue"/>
              </a:rPr>
              <a:t>The first useful output is a skill map, followed by one focused next action.</a:t>
            </a:r>
          </a:p>
        </p:txBody>
      </p:sp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eff1d0185cf4805"/>
          <a:srcRect xmlns:a="http://schemas.openxmlformats.org/drawingml/2006/main" l="0" t="56" r="0" b="5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" y="1790700"/>
            <a:ext cx="5095875" cy="3181350"/>
          </a:xfrm>
          <a:prstGeom xmlns:a="http://schemas.openxmlformats.org/drawingml/2006/main" prst="roundRect">
            <a:avLst>
              <a:gd name="adj" fmla="val 4790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4BEAF0-2A4C-4A1A-AF20-2E021019C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8097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6D47B6-7C10-450C-AEB1-8125AED5B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809750"/>
            <a:ext cx="43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57C830-BA06-4175-BCB9-35A95AE5B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1809750"/>
            <a:ext cx="3619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rPr>
              <a:t>Diagnostic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B75BDA6-79E2-4083-9AB4-F8C4AE289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7025" y="2257425"/>
            <a:ext cx="285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3EA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9B8F405-4C9D-4B85-A974-4FDDBD687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5908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FF7F0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4DF94AF-32A9-4994-9A1A-A648987EB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590800"/>
            <a:ext cx="43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8A99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8A999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E9954F2-B658-4C3D-BD1E-41FEAACAB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590800"/>
            <a:ext cx="3619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rPr>
              <a:t>Personal map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D233E35-E67B-4DAB-915E-EF88B3E33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7025" y="3038475"/>
            <a:ext cx="285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3EA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2D24B0F-25BD-42CE-BD88-6235D8D42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3718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FF7F0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FD92D2C-BFEF-4841-A7B1-D38DB3425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371850"/>
            <a:ext cx="43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8A99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8A999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0013DE8-B9C1-4B3D-A423-5293ABBCD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371850"/>
            <a:ext cx="3619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rPr>
              <a:t>Focused study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E506FE4-F590-4084-ACA8-4F596373C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7025" y="3819525"/>
            <a:ext cx="285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3EA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36B0EAD-3F35-4625-864D-7DEE160F1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1529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FF7F0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1EB21C0-7A4E-4E48-8C2A-8F7C54FC6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152900"/>
            <a:ext cx="43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8A99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8A999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23052EA-F7C7-4DF8-993E-3EA41ADA8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4152900"/>
            <a:ext cx="3619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rPr>
              <a:t>Practice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D5B5641-03C8-499E-AC60-EBD8E0060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7025" y="4600575"/>
            <a:ext cx="285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3EA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49718BD-EDC5-4843-A123-C989A6F15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9339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FF7F0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8EAEA7A-048E-40D1-9DBE-EFE478DAD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933950"/>
            <a:ext cx="43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8A99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8A999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407419C-D2C3-498C-BD2E-7AC2B60E4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4933950"/>
            <a:ext cx="3619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rPr>
              <a:t>Adapt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CB83D26-80B5-46C1-B212-E50EA126F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84835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6B8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176B87"/>
                </a:solidFill>
                <a:latin typeface="Helvetica Neue"/>
                <a:ea typeface="Helvetica Neue"/>
                <a:cs typeface="Helvetica Neue"/>
              </a:rPr>
              <a:t>Albanian + English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9DC3E87-1E29-4056-8BE0-F5CA1751C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5848350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6B8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176B87"/>
                </a:solidFill>
                <a:latin typeface="Helvetica Neue"/>
                <a:ea typeface="Helvetica Neue"/>
                <a:cs typeface="Helvetica Neue"/>
              </a:rPr>
              <a:t>3 elective choices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4854591-9F57-4511-A48B-96190631D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478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64788B"/>
                </a:solidFill>
                <a:latin typeface="Helvetica Neue"/>
                <a:ea typeface="Helvetica Neue"/>
                <a:cs typeface="Helvetica Neue"/>
              </a:rPr>
              <a:t>MATURA AI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4838C43-AA62-4D1F-B0DB-01C7771BE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478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64788B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82807446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4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197C0E9-AF21-46E3-BF95-8EA9F00A5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8A999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18A999"/>
                </a:solidFill>
                <a:latin typeface="Helvetica Neue"/>
                <a:ea typeface="Helvetica Neue"/>
                <a:cs typeface="Helvetica Neue"/>
              </a:rPr>
              <a:t>WORKING PROOF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9095F2-228C-47F2-BCB3-044B92D96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76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rPr>
              <a:t>The loop changes the next recommendation after every answer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EFF4CF-9DCF-45CB-A549-CAF548B05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8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4788B"/>
                </a:solidFill>
                <a:latin typeface="Helvetica Neue"/>
                <a:ea typeface="Helvetica Neue"/>
                <a:cs typeface="Helvetica Neue"/>
              </a:rPr>
              <a:t>A fixed question bank grades the learner. Gemma coaches without controlling the score.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DB5C0D-3101-43CF-8898-9807BFB0E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24050"/>
            <a:ext cx="2476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952"/>
          </a:bodyPr>
          <a:lstStyle xmlns:a="http://schemas.openxmlformats.org/drawingml/2006/main"/>
          <a:p xmlns:a="http://schemas.openxmlformats.org/drawingml/2006/main">
            <a:pPr algn="l">
              <a:defRPr sz="525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525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rPr>
              <a:t>25%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540B57-A673-446A-84F1-00BC20683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2415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478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64788B"/>
                </a:solidFill>
                <a:latin typeface="Helvetica Neue"/>
                <a:ea typeface="Helvetica Neue"/>
                <a:cs typeface="Helvetica Neue"/>
              </a:rPr>
              <a:t>Algebra before practice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96388E-D191-4905-ABA0-2FA2773F5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76600"/>
            <a:ext cx="2190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3EA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CAD36C-9A4C-43E9-9ED2-05E52E9D0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4250"/>
            <a:ext cx="2476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952"/>
          </a:bodyPr>
          <a:lstStyle xmlns:a="http://schemas.openxmlformats.org/drawingml/2006/main"/>
          <a:p xmlns:a="http://schemas.openxmlformats.org/drawingml/2006/main">
            <a:pPr algn="l">
              <a:defRPr sz="5250" b="1">
                <a:solidFill>
                  <a:srgbClr val="18A999"/>
                </a:solidFill>
                <a:latin typeface="Helvetica Neue"/>
                <a:ea typeface="Helvetica Neue"/>
                <a:cs typeface="Helvetica Neue"/>
              </a:defRPr>
            </a:pPr>
            <a:r>
              <a:rPr sz="5250" b="1">
                <a:solidFill>
                  <a:srgbClr val="18A999"/>
                </a:solidFill>
                <a:latin typeface="Helvetica Neue"/>
                <a:ea typeface="Helvetica Neue"/>
                <a:cs typeface="Helvetica Neue"/>
              </a:rPr>
              <a:t>40%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FA7DD9-1503-48B8-8A6C-B305BEC20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243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478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64788B"/>
                </a:solidFill>
                <a:latin typeface="Helvetica Neue"/>
                <a:ea typeface="Helvetica Neue"/>
                <a:cs typeface="Helvetica Neue"/>
              </a:rPr>
              <a:t>after one correct answer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E60E6A-A214-44CF-989D-2181D0186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482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6B8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76B87"/>
                </a:solidFill>
                <a:latin typeface="Helvetica Neue"/>
                <a:ea typeface="Helvetica Neue"/>
                <a:cs typeface="Helvetica Neue"/>
              </a:rPr>
              <a:t>Verified in the live flow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3EE4176-7B66-42C2-906B-1ABE600ED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91150"/>
            <a:ext cx="3143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965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525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52536"/>
                </a:solidFill>
                <a:latin typeface="Helvetica Neue"/>
                <a:ea typeface="Helvetica Neue"/>
                <a:cs typeface="Helvetica Neue"/>
              </a:rPr>
              <a:t>The tutor returned a hint to “give me only the answer.” The deterministic engine then moved mastery from 25% to 40%.</a:t>
            </a:r>
          </a:p>
        </p:txBody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3c480a997ce42f2"/>
          <a:srcRect xmlns:a="http://schemas.openxmlformats.org/drawingml/2006/main" l="0" t="5038" r="0" b="503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095750" y="1771650"/>
            <a:ext cx="7524750" cy="4229100"/>
          </a:xfrm>
          <a:prstGeom xmlns:a="http://schemas.openxmlformats.org/drawingml/2006/main" prst="roundRect">
            <a:avLst>
              <a:gd name="adj" fmla="val 3604"/>
            </a:avLst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920476E-B6DE-4B14-9C1F-E844E81E4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478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64788B"/>
                </a:solidFill>
                <a:latin typeface="Helvetica Neue"/>
                <a:ea typeface="Helvetica Neue"/>
                <a:cs typeface="Helvetica Neue"/>
              </a:rPr>
              <a:t>MATURA AI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988A31C-6A85-4D84-ACD9-B65088BDC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478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64788B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94326614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AC21098-1F87-4A09-907A-8B1AC71AA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8A999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18A999"/>
                </a:solidFill>
                <a:latin typeface="Helvetica Neue"/>
                <a:ea typeface="Helvetica Neue"/>
                <a:cs typeface="Helvetica Neue"/>
              </a:rPr>
              <a:t>TRUST 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7E85DF-74FE-484D-A530-BFDB31AB7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76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rPr>
              <a:t>AI explains. Verified code grades.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0B5807-ACD5-4DB5-AE2B-93093523F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8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4788B"/>
                </a:solidFill>
                <a:latin typeface="Helvetica Neue"/>
                <a:ea typeface="Helvetica Neue"/>
                <a:cs typeface="Helvetica Neue"/>
              </a:rPr>
              <a:t>The learning path continues even when the model provider is unavailable.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12307D-0A4F-4DB0-87CF-912B36586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2190750" cy="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4F8FA"/>
          </a:solidFill>
          <a:ln xmlns:a="http://schemas.openxmlformats.org/drawingml/2006/main" w="9525">
            <a:solidFill>
              <a:srgbClr val="D7E3EA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A5591C-F7CE-4932-BD01-D3D2D5502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33600"/>
            <a:ext cx="1847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333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rPr>
              <a:t>Student attempt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D0B485-F120-410E-AFCF-4F52911FE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76500"/>
            <a:ext cx="1847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8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4788B"/>
                </a:solidFill>
                <a:latin typeface="Helvetica Neue"/>
                <a:ea typeface="Helvetica Neue"/>
                <a:cs typeface="Helvetica Neue"/>
              </a:rPr>
              <a:t>Multiple choice answer</a:t>
            </a:r>
          </a:p>
          <a:p xmlns:a="http://schemas.openxmlformats.org/drawingml/2006/main">
            <a:pPr algn="l">
              <a:defRPr sz="1200" b="0">
                <a:solidFill>
                  <a:srgbClr val="6478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4788B"/>
                </a:solidFill>
                <a:latin typeface="Helvetica Neue"/>
                <a:ea typeface="Helvetica Neue"/>
                <a:cs typeface="Helvetica Neue"/>
              </a:rPr>
              <a:t>Language + elective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A46F15-D326-4A5C-AE26-DDA9D2EE7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524125"/>
            <a:ext cx="4191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B942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3A0ADB8-EB47-4748-81BD-1642F37F8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000250"/>
            <a:ext cx="2190750" cy="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4F8FA"/>
          </a:solidFill>
          <a:ln xmlns:a="http://schemas.openxmlformats.org/drawingml/2006/main" w="9525">
            <a:solidFill>
              <a:srgbClr val="D7E3EA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56C174E-F536-4E69-9310-69D9243A5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133600"/>
            <a:ext cx="1847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333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6B8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76B87"/>
                </a:solidFill>
                <a:latin typeface="Helvetica Neue"/>
                <a:ea typeface="Helvetica Neue"/>
                <a:cs typeface="Helvetica Neue"/>
              </a:rPr>
              <a:t>Learning engine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D76869C-B40B-4D29-B084-4BF40E835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476500"/>
            <a:ext cx="1847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8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4788B"/>
                </a:solidFill>
                <a:latin typeface="Helvetica Neue"/>
                <a:ea typeface="Helvetica Neue"/>
                <a:cs typeface="Helvetica Neue"/>
              </a:rPr>
              <a:t>Deterministic score</a:t>
            </a:r>
          </a:p>
          <a:p xmlns:a="http://schemas.openxmlformats.org/drawingml/2006/main">
            <a:pPr algn="l">
              <a:defRPr sz="1200" b="0">
                <a:solidFill>
                  <a:srgbClr val="6478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4788B"/>
                </a:solidFill>
                <a:latin typeface="Helvetica Neue"/>
                <a:ea typeface="Helvetica Neue"/>
                <a:cs typeface="Helvetica Neue"/>
              </a:rPr>
              <a:t>Weakest skill selection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CB9D537-45BB-451E-9DCC-F87A11A26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2524125"/>
            <a:ext cx="4191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B942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A954F45-A520-42A4-B056-A87D43F50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000250"/>
            <a:ext cx="2190750" cy="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DFF7F0"/>
          </a:solidFill>
          <a:ln xmlns:a="http://schemas.openxmlformats.org/drawingml/2006/main" w="9525">
            <a:solidFill>
              <a:srgbClr val="D7E3EA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51426C4-2C18-4382-893E-247C8CA3F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133600"/>
            <a:ext cx="1847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333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8A99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8A999"/>
                </a:solidFill>
                <a:latin typeface="Helvetica Neue"/>
                <a:ea typeface="Helvetica Neue"/>
                <a:cs typeface="Helvetica Neue"/>
              </a:rPr>
              <a:t>Gemma coach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D7EB084-2A6E-44B1-B408-7F0A676EE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476500"/>
            <a:ext cx="1847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8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4788B"/>
                </a:solidFill>
                <a:latin typeface="Helvetica Neue"/>
                <a:ea typeface="Helvetica Neue"/>
                <a:cs typeface="Helvetica Neue"/>
              </a:rPr>
              <a:t>Hint first</a:t>
            </a:r>
          </a:p>
          <a:p xmlns:a="http://schemas.openxmlformats.org/drawingml/2006/main">
            <a:pPr algn="l">
              <a:defRPr sz="1200" b="0">
                <a:solidFill>
                  <a:srgbClr val="6478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4788B"/>
                </a:solidFill>
                <a:latin typeface="Helvetica Neue"/>
                <a:ea typeface="Helvetica Neue"/>
                <a:cs typeface="Helvetica Neue"/>
              </a:rPr>
              <a:t>Solution after attempt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DD4BCC2-2992-41C8-A44F-C693185BA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524125"/>
            <a:ext cx="4191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B942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D673F76-017C-4FE1-9495-2EDEC7B41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000250"/>
            <a:ext cx="2190750" cy="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4F8FA"/>
          </a:solidFill>
          <a:ln xmlns:a="http://schemas.openxmlformats.org/drawingml/2006/main" w="9525">
            <a:solidFill>
              <a:srgbClr val="D7E3EA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2273480-EED6-4FD1-A54A-8A2E867B7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133600"/>
            <a:ext cx="1847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333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rPr>
              <a:t>Student map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1C20FCF-C57C-4750-BF3B-3E09D102D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476500"/>
            <a:ext cx="1847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8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4788B"/>
                </a:solidFill>
                <a:latin typeface="Helvetica Neue"/>
                <a:ea typeface="Helvetica Neue"/>
                <a:cs typeface="Helvetica Neue"/>
              </a:rPr>
              <a:t>Skill mastery</a:t>
            </a:r>
          </a:p>
          <a:p xmlns:a="http://schemas.openxmlformats.org/drawingml/2006/main">
            <a:pPr algn="l">
              <a:defRPr sz="1200" b="0">
                <a:solidFill>
                  <a:srgbClr val="6478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4788B"/>
                </a:solidFill>
                <a:latin typeface="Helvetica Neue"/>
                <a:ea typeface="Helvetica Neue"/>
                <a:cs typeface="Helvetica Neue"/>
              </a:rPr>
              <a:t>Next practice action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B05C152-5518-4804-9213-3BD53F181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57625"/>
            <a:ext cx="8343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3EA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47F3712-91DF-410D-ADC9-7021C336E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71950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806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rPr>
              <a:t>54 bilingual questions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ACABC8C-77B3-4971-B059-7238330D9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417195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9719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rPr>
              <a:t>PostgreSQL + SQLAlchemy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731A460-FB0C-4783-B2C1-F44E6293F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417195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781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rPr>
              <a:t>Source-grounded Library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D3B7D7F-FD70-4464-B439-1E4237647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048250"/>
            <a:ext cx="876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3352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6B8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76B87"/>
                </a:solidFill>
                <a:latin typeface="Helvetica Neue"/>
                <a:ea typeface="Helvetica Neue"/>
                <a:cs typeface="Helvetica Neue"/>
              </a:rPr>
              <a:t>Stored hints are the fallback. Correct answers and mastery never depend on an LLM response.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5C1B3EE-1A82-43D9-A86A-B689FB31C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695950"/>
            <a:ext cx="876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478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4788B"/>
                </a:solidFill>
                <a:latin typeface="Helvetica Neue"/>
                <a:ea typeface="Helvetica Neue"/>
                <a:cs typeface="Helvetica Neue"/>
              </a:rPr>
              <a:t>Public launch still requires authentication, ownership controls, moderation and rate limits.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5A4FE7A-BBB7-4C7E-B4F7-DA2C26653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478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64788B"/>
                </a:solidFill>
                <a:latin typeface="Helvetica Neue"/>
                <a:ea typeface="Helvetica Neue"/>
                <a:cs typeface="Helvetica Neue"/>
              </a:rPr>
              <a:t>MATURA AI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922A05F-1BB6-48FA-864E-831C1FC9F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478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64788B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40009857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02A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500C6EE-0985-4590-9D0F-8C50EFE58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DE0C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7DE0CF"/>
                </a:solidFill>
                <a:latin typeface="Helvetica Neue"/>
                <a:ea typeface="Helvetica Neue"/>
                <a:cs typeface="Helvetica Neue"/>
              </a:rPr>
              <a:t>PILOT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A2190C-DD59-4578-8683-75A1B1F02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Two schools. Six weeks. One measurable question.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249CC1-493E-4767-AC40-24AEF72DB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95400"/>
            <a:ext cx="952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C8D9E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C8D9E6"/>
                </a:solidFill>
                <a:latin typeface="Helvetica Neue"/>
                <a:ea typeface="Helvetica Neue"/>
                <a:cs typeface="Helvetica Neue"/>
              </a:rPr>
              <a:t>Does targeted practice improve mastery in Albanian and Mathematics?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782F3C-EA1E-4934-B535-7BCDB0E68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0"/>
            <a:ext cx="1047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4B9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F4B942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46BB2C-0E57-45BD-A27B-E4D7040FF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0035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Baseline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1CC14A-60C3-489A-9E74-735F8D49D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0"/>
            <a:ext cx="295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C8D9E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C8D9E6"/>
                </a:solidFill>
                <a:latin typeface="Helvetica Neue"/>
                <a:ea typeface="Helvetica Neue"/>
                <a:cs typeface="Helvetica Neue"/>
              </a:rPr>
              <a:t>Diagnostic + teacher review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43C1D6-3DCC-4DC1-8E8D-35430203C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428875"/>
            <a:ext cx="457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77087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CE45B4-40DA-4796-9E76-BAAACA31F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190750"/>
            <a:ext cx="1047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4B9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F4B942"/>
                </a:solidFill>
                <a:latin typeface="Helvetica Neue"/>
                <a:ea typeface="Helvetica Neue"/>
                <a:cs typeface="Helvetica Neue"/>
              </a:rPr>
              <a:t>2–5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C2F6ED-8CCA-4E84-BD9F-10887F7F7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80035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Practice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7E3A754-CDA0-4A9E-BE36-CE8CA23EA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238500"/>
            <a:ext cx="295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C8D9E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C8D9E6"/>
                </a:solidFill>
                <a:latin typeface="Helvetica Neue"/>
                <a:ea typeface="Helvetica Neue"/>
                <a:cs typeface="Helvetica Neue"/>
              </a:rPr>
              <a:t>Three short sessions each week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03A5D4C-CC43-4C86-994D-12EB78C1F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428875"/>
            <a:ext cx="457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77087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A29A048-9AB6-4DA7-BBF0-24BFC86B7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190750"/>
            <a:ext cx="1047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4B9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F4B942"/>
                </a:solidFill>
                <a:latin typeface="Helvetica Neue"/>
                <a:ea typeface="Helvetica Neue"/>
                <a:cs typeface="Helvetica Neue"/>
              </a:rPr>
              <a:t>6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116EF14-02F5-4689-8A7E-629A55C60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80035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Measure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BD4C8EA-6127-440B-920D-32F380ABC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238500"/>
            <a:ext cx="295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C8D9E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C8D9E6"/>
                </a:solidFill>
                <a:latin typeface="Helvetica Neue"/>
                <a:ea typeface="Helvetica Neue"/>
                <a:cs typeface="Helvetica Neue"/>
              </a:rPr>
              <a:t>Repeat items + student feedback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37CA736-7197-4804-B2D4-40E35BE53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291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77087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E80FCF5-EEDD-47E9-AF92-A5CA8490C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9105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611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Free for students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E3A5CB6-A3E8-4CA9-8BF6-22D1AB266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48250"/>
            <a:ext cx="4953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C8D9E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C8D9E6"/>
                </a:solidFill>
                <a:latin typeface="Helvetica Neue"/>
                <a:ea typeface="Helvetica Neue"/>
                <a:cs typeface="Helvetica Neue"/>
              </a:rPr>
              <a:t>A municipality, school partner or CSR sponsor funds the pilot. No student advertising in the test.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D3EAD42-37D9-4313-8F6E-C3EBC6798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591050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611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Evidence status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2297971-4B8E-4D88-AA23-897B86BB7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5048250"/>
            <a:ext cx="4191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C8D9E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C8D9E6"/>
                </a:solidFill>
                <a:latin typeface="Helvetica Neue"/>
                <a:ea typeface="Helvetica Neue"/>
                <a:cs typeface="Helvetica Neue"/>
              </a:rPr>
              <a:t>Product behavior is verified. Student and teacher interviews remain the next validation step; no research or traction is fabricated.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CBA7D41-898D-48E6-8FAF-0E07DB4E2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478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64788B"/>
                </a:solidFill>
                <a:latin typeface="Helvetica Neue"/>
                <a:ea typeface="Helvetica Neue"/>
                <a:cs typeface="Helvetica Neue"/>
              </a:rPr>
              <a:t>MATURA AI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3789FF0-9DF9-48F7-9127-CFA0A260A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478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64788B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9457097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2026-09-24T23:18:12.3620000Z</dcterms:created>
  <dcterms:modified xsi:type="dcterms:W3CDTF">2026-09-24T23:18:12.3620000Z</dcterms:modified>
</coreProperties>
</file>